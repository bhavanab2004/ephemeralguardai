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7" r:id="rId3"/>
    <p:sldId id="257" r:id="rId4"/>
    <p:sldId id="258" r:id="rId5"/>
    <p:sldId id="260" r:id="rId6"/>
    <p:sldId id="259" r:id="rId7"/>
    <p:sldId id="261" r:id="rId8"/>
    <p:sldId id="262" r:id="rId9"/>
    <p:sldId id="263" r:id="rId10"/>
    <p:sldId id="265" r:id="rId11"/>
    <p:sldId id="266"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3E35BF-A6F0-4945-A1B7-8BED7EB0D3EA}" v="15" dt="2026-06-21T21:09:02.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ana b" userId="2e1a02fdf2853b08" providerId="LiveId" clId="{675BF7B1-30B4-4FC8-A200-3436A1296384}"/>
    <pc:docChg chg="undo custSel addSld modSld sldOrd">
      <pc:chgData name="bhavana b" userId="2e1a02fdf2853b08" providerId="LiveId" clId="{675BF7B1-30B4-4FC8-A200-3436A1296384}" dt="2026-06-21T21:40:02.518" v="224" actId="20577"/>
      <pc:docMkLst>
        <pc:docMk/>
      </pc:docMkLst>
      <pc:sldChg chg="modSp mod">
        <pc:chgData name="bhavana b" userId="2e1a02fdf2853b08" providerId="LiveId" clId="{675BF7B1-30B4-4FC8-A200-3436A1296384}" dt="2026-06-21T21:39:12.563" v="205" actId="20577"/>
        <pc:sldMkLst>
          <pc:docMk/>
          <pc:sldMk cId="1700005290" sldId="256"/>
        </pc:sldMkLst>
        <pc:spChg chg="mod">
          <ac:chgData name="bhavana b" userId="2e1a02fdf2853b08" providerId="LiveId" clId="{675BF7B1-30B4-4FC8-A200-3436A1296384}" dt="2026-06-21T21:39:12.563" v="205" actId="20577"/>
          <ac:spMkLst>
            <pc:docMk/>
            <pc:sldMk cId="1700005290" sldId="256"/>
            <ac:spMk id="2" creationId="{2F8E01AD-03A2-1C84-52D7-75B63B779BAD}"/>
          </ac:spMkLst>
        </pc:spChg>
      </pc:sldChg>
      <pc:sldChg chg="modSp mod">
        <pc:chgData name="bhavana b" userId="2e1a02fdf2853b08" providerId="LiveId" clId="{675BF7B1-30B4-4FC8-A200-3436A1296384}" dt="2026-06-21T21:40:02.518" v="224" actId="20577"/>
        <pc:sldMkLst>
          <pc:docMk/>
          <pc:sldMk cId="1973728064" sldId="257"/>
        </pc:sldMkLst>
        <pc:spChg chg="mod">
          <ac:chgData name="bhavana b" userId="2e1a02fdf2853b08" providerId="LiveId" clId="{675BF7B1-30B4-4FC8-A200-3436A1296384}" dt="2026-06-21T21:40:02.518" v="224" actId="20577"/>
          <ac:spMkLst>
            <pc:docMk/>
            <pc:sldMk cId="1973728064" sldId="257"/>
            <ac:spMk id="3" creationId="{25273691-0855-2BF7-2047-9C67D8C2FC0A}"/>
          </ac:spMkLst>
        </pc:spChg>
      </pc:sldChg>
      <pc:sldChg chg="modSp mod">
        <pc:chgData name="bhavana b" userId="2e1a02fdf2853b08" providerId="LiveId" clId="{675BF7B1-30B4-4FC8-A200-3436A1296384}" dt="2026-06-21T20:54:15.692" v="29" actId="20577"/>
        <pc:sldMkLst>
          <pc:docMk/>
          <pc:sldMk cId="4235080144" sldId="260"/>
        </pc:sldMkLst>
        <pc:graphicFrameChg chg="mod modGraphic">
          <ac:chgData name="bhavana b" userId="2e1a02fdf2853b08" providerId="LiveId" clId="{675BF7B1-30B4-4FC8-A200-3436A1296384}" dt="2026-06-21T20:54:15.692" v="29" actId="20577"/>
          <ac:graphicFrameMkLst>
            <pc:docMk/>
            <pc:sldMk cId="4235080144" sldId="260"/>
            <ac:graphicFrameMk id="6" creationId="{A9BFBC36-2F49-9EF1-5EDA-291CEA5BCF48}"/>
          </ac:graphicFrameMkLst>
        </pc:graphicFrameChg>
      </pc:sldChg>
      <pc:sldChg chg="modSp mod">
        <pc:chgData name="bhavana b" userId="2e1a02fdf2853b08" providerId="LiveId" clId="{675BF7B1-30B4-4FC8-A200-3436A1296384}" dt="2026-06-21T20:55:52.762" v="48" actId="27636"/>
        <pc:sldMkLst>
          <pc:docMk/>
          <pc:sldMk cId="11444502" sldId="261"/>
        </pc:sldMkLst>
        <pc:spChg chg="mod">
          <ac:chgData name="bhavana b" userId="2e1a02fdf2853b08" providerId="LiveId" clId="{675BF7B1-30B4-4FC8-A200-3436A1296384}" dt="2026-06-21T20:55:15.851" v="42" actId="1076"/>
          <ac:spMkLst>
            <pc:docMk/>
            <pc:sldMk cId="11444502" sldId="261"/>
            <ac:spMk id="2" creationId="{9175E41F-8B62-3C61-5ECF-DBDA0D084CAC}"/>
          </ac:spMkLst>
        </pc:spChg>
        <pc:spChg chg="mod">
          <ac:chgData name="bhavana b" userId="2e1a02fdf2853b08" providerId="LiveId" clId="{675BF7B1-30B4-4FC8-A200-3436A1296384}" dt="2026-06-21T20:55:52.762" v="48" actId="27636"/>
          <ac:spMkLst>
            <pc:docMk/>
            <pc:sldMk cId="11444502" sldId="261"/>
            <ac:spMk id="3" creationId="{3D77AFFC-D9D0-BB98-12E7-393F05D68563}"/>
          </ac:spMkLst>
        </pc:spChg>
      </pc:sldChg>
      <pc:sldChg chg="modSp mod">
        <pc:chgData name="bhavana b" userId="2e1a02fdf2853b08" providerId="LiveId" clId="{675BF7B1-30B4-4FC8-A200-3436A1296384}" dt="2026-06-21T20:56:30.812" v="82" actId="27636"/>
        <pc:sldMkLst>
          <pc:docMk/>
          <pc:sldMk cId="2715407167" sldId="262"/>
        </pc:sldMkLst>
        <pc:spChg chg="mod">
          <ac:chgData name="bhavana b" userId="2e1a02fdf2853b08" providerId="LiveId" clId="{675BF7B1-30B4-4FC8-A200-3436A1296384}" dt="2026-06-21T20:56:30.812" v="82" actId="27636"/>
          <ac:spMkLst>
            <pc:docMk/>
            <pc:sldMk cId="2715407167" sldId="262"/>
            <ac:spMk id="3" creationId="{69BE7C73-FF8C-920E-3FB8-115C3B6084D5}"/>
          </ac:spMkLst>
        </pc:spChg>
      </pc:sldChg>
      <pc:sldChg chg="modSp new mod">
        <pc:chgData name="bhavana b" userId="2e1a02fdf2853b08" providerId="LiveId" clId="{675BF7B1-30B4-4FC8-A200-3436A1296384}" dt="2026-06-21T21:09:20.822" v="201" actId="20577"/>
        <pc:sldMkLst>
          <pc:docMk/>
          <pc:sldMk cId="568681078" sldId="265"/>
        </pc:sldMkLst>
        <pc:spChg chg="mod">
          <ac:chgData name="bhavana b" userId="2e1a02fdf2853b08" providerId="LiveId" clId="{675BF7B1-30B4-4FC8-A200-3436A1296384}" dt="2026-06-21T21:01:56.428" v="133" actId="20577"/>
          <ac:spMkLst>
            <pc:docMk/>
            <pc:sldMk cId="568681078" sldId="265"/>
            <ac:spMk id="2" creationId="{CBE863D9-28FF-649B-8F23-1BD3A0F57B93}"/>
          </ac:spMkLst>
        </pc:spChg>
        <pc:spChg chg="mod">
          <ac:chgData name="bhavana b" userId="2e1a02fdf2853b08" providerId="LiveId" clId="{675BF7B1-30B4-4FC8-A200-3436A1296384}" dt="2026-06-21T21:09:20.822" v="201" actId="20577"/>
          <ac:spMkLst>
            <pc:docMk/>
            <pc:sldMk cId="568681078" sldId="265"/>
            <ac:spMk id="3" creationId="{5921DF02-B8A7-983E-05CF-3762595D2DEE}"/>
          </ac:spMkLst>
        </pc:spChg>
      </pc:sldChg>
      <pc:sldChg chg="modSp add mod">
        <pc:chgData name="bhavana b" userId="2e1a02fdf2853b08" providerId="LiveId" clId="{675BF7B1-30B4-4FC8-A200-3436A1296384}" dt="2026-06-21T21:09:41.293" v="204" actId="5793"/>
        <pc:sldMkLst>
          <pc:docMk/>
          <pc:sldMk cId="1080097878" sldId="266"/>
        </pc:sldMkLst>
        <pc:spChg chg="mod">
          <ac:chgData name="bhavana b" userId="2e1a02fdf2853b08" providerId="LiveId" clId="{675BF7B1-30B4-4FC8-A200-3436A1296384}" dt="2026-06-21T21:09:41.293" v="204" actId="5793"/>
          <ac:spMkLst>
            <pc:docMk/>
            <pc:sldMk cId="1080097878" sldId="266"/>
            <ac:spMk id="3" creationId="{AF4E646F-1419-22A1-F717-6027F08BD7E0}"/>
          </ac:spMkLst>
        </pc:spChg>
      </pc:sldChg>
      <pc:sldChg chg="modSp add mod ord">
        <pc:chgData name="bhavana b" userId="2e1a02fdf2853b08" providerId="LiveId" clId="{675BF7B1-30B4-4FC8-A200-3436A1296384}" dt="2026-06-21T21:39:50.256" v="209" actId="20577"/>
        <pc:sldMkLst>
          <pc:docMk/>
          <pc:sldMk cId="3197104134" sldId="267"/>
        </pc:sldMkLst>
        <pc:spChg chg="mod">
          <ac:chgData name="bhavana b" userId="2e1a02fdf2853b08" providerId="LiveId" clId="{675BF7B1-30B4-4FC8-A200-3436A1296384}" dt="2026-06-21T21:39:50.256" v="209" actId="20577"/>
          <ac:spMkLst>
            <pc:docMk/>
            <pc:sldMk cId="3197104134" sldId="267"/>
            <ac:spMk id="3" creationId="{E1C69567-1EAB-B8CB-4E8B-D97B466C9E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26A1F-2D85-4269-9EC7-1849A1026F0C}" type="datetimeFigureOut">
              <a:rPr lang="en-IN" smtClean="0"/>
              <a:t>22-06-2026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D34633-1403-4CB1-A1F7-99DF57325A04}" type="slidenum">
              <a:rPr lang="en-IN" smtClean="0"/>
              <a:t>‹#›</a:t>
            </a:fld>
            <a:endParaRPr lang="en-IN"/>
          </a:p>
        </p:txBody>
      </p:sp>
    </p:spTree>
    <p:extLst>
      <p:ext uri="{BB962C8B-B14F-4D97-AF65-F5344CB8AC3E}">
        <p14:creationId xmlns:p14="http://schemas.microsoft.com/office/powerpoint/2010/main" val="2944376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D34633-1403-4CB1-A1F7-99DF57325A04}" type="slidenum">
              <a:rPr lang="en-IN" smtClean="0"/>
              <a:t>1</a:t>
            </a:fld>
            <a:endParaRPr lang="en-IN"/>
          </a:p>
        </p:txBody>
      </p:sp>
    </p:spTree>
    <p:extLst>
      <p:ext uri="{BB962C8B-B14F-4D97-AF65-F5344CB8AC3E}">
        <p14:creationId xmlns:p14="http://schemas.microsoft.com/office/powerpoint/2010/main" val="28369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3504D64-CA72-4115-B9C7-023A5EBBCCDD}"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145234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504D64-CA72-4115-B9C7-023A5EBBCCDD}"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1550873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504D64-CA72-4115-B9C7-023A5EBBCCDD}"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32592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1084781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3504D64-CA72-4115-B9C7-023A5EBBCCDD}" type="datetimeFigureOut">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13986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3504D64-CA72-4115-B9C7-023A5EBBCCDD}"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397111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504D64-CA72-4115-B9C7-023A5EBBCCDD}" type="datetimeFigureOut">
              <a:rPr lang="en-IN" smtClean="0"/>
              <a:t>22-06-2026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944073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486406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866353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337968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90357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470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504D64-CA72-4115-B9C7-023A5EBBCCDD}"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1414987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F3504D64-CA72-4115-B9C7-023A5EBBCCDD}"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49913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F3504D64-CA72-4115-B9C7-023A5EBBCCDD}"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418166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504D64-CA72-4115-B9C7-023A5EBBCCDD}"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415546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504D64-CA72-4115-B9C7-023A5EBBCCDD}"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99C687-2951-4408-A4CD-2246A3E3434E}" type="slidenum">
              <a:rPr lang="en-IN" smtClean="0"/>
              <a:t>‹#›</a:t>
            </a:fld>
            <a:endParaRPr lang="en-IN"/>
          </a:p>
        </p:txBody>
      </p:sp>
    </p:spTree>
    <p:extLst>
      <p:ext uri="{BB962C8B-B14F-4D97-AF65-F5344CB8AC3E}">
        <p14:creationId xmlns:p14="http://schemas.microsoft.com/office/powerpoint/2010/main" val="2821985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3504D64-CA72-4115-B9C7-023A5EBBCCDD}" type="datetimeFigureOut">
              <a:rPr lang="en-IN" smtClean="0"/>
              <a:t>22-06-2026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F99C687-2951-4408-A4CD-2246A3E3434E}" type="slidenum">
              <a:rPr lang="en-IN" smtClean="0"/>
              <a:t>‹#›</a:t>
            </a:fld>
            <a:endParaRPr lang="en-IN"/>
          </a:p>
        </p:txBody>
      </p:sp>
    </p:spTree>
    <p:extLst>
      <p:ext uri="{BB962C8B-B14F-4D97-AF65-F5344CB8AC3E}">
        <p14:creationId xmlns:p14="http://schemas.microsoft.com/office/powerpoint/2010/main" val="13952363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Bhavanab2004/EphemeralGuardAi"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E01AD-03A2-1C84-52D7-75B63B779BAD}"/>
              </a:ext>
            </a:extLst>
          </p:cNvPr>
          <p:cNvSpPr>
            <a:spLocks noGrp="1"/>
          </p:cNvSpPr>
          <p:nvPr>
            <p:ph type="ctrTitle"/>
          </p:nvPr>
        </p:nvSpPr>
        <p:spPr>
          <a:xfrm>
            <a:off x="1524000" y="1122363"/>
            <a:ext cx="9144000" cy="1043894"/>
          </a:xfrm>
        </p:spPr>
        <p:txBody>
          <a:bodyPr>
            <a:noAutofit/>
          </a:bodyPr>
          <a:lstStyle/>
          <a:p>
            <a:r>
              <a:rPr lang="en-IN" sz="7000" b="1" dirty="0"/>
              <a:t>Ephemeral Guard AI</a:t>
            </a:r>
          </a:p>
        </p:txBody>
      </p:sp>
      <p:sp>
        <p:nvSpPr>
          <p:cNvPr id="3" name="Subtitle 2">
            <a:extLst>
              <a:ext uri="{FF2B5EF4-FFF2-40B4-BE49-F238E27FC236}">
                <a16:creationId xmlns:a16="http://schemas.microsoft.com/office/drawing/2014/main" id="{9343BDC7-81D5-4D06-DA41-86AA941DCC60}"/>
              </a:ext>
            </a:extLst>
          </p:cNvPr>
          <p:cNvSpPr>
            <a:spLocks noGrp="1"/>
          </p:cNvSpPr>
          <p:nvPr>
            <p:ph type="subTitle" idx="1"/>
          </p:nvPr>
        </p:nvSpPr>
        <p:spPr>
          <a:xfrm>
            <a:off x="1524000" y="1773238"/>
            <a:ext cx="9144000" cy="1655762"/>
          </a:xfrm>
        </p:spPr>
        <p:txBody>
          <a:bodyPr>
            <a:normAutofit fontScale="85000" lnSpcReduction="20000"/>
          </a:bodyPr>
          <a:lstStyle/>
          <a:p>
            <a:endParaRPr lang="en-IN" dirty="0"/>
          </a:p>
          <a:p>
            <a:r>
              <a:rPr lang="en-IN" sz="3000" dirty="0"/>
              <a:t>Ephemeral Cloud &amp; Kubernetes Risk Detection Platform</a:t>
            </a:r>
          </a:p>
          <a:p>
            <a:endParaRPr lang="en-IN" sz="2400" dirty="0"/>
          </a:p>
          <a:p>
            <a:r>
              <a:rPr lang="en-IN" sz="2400" dirty="0"/>
              <a:t>Detect. Correlate. Respond. Before it's too late.</a:t>
            </a:r>
          </a:p>
        </p:txBody>
      </p:sp>
      <p:sp>
        <p:nvSpPr>
          <p:cNvPr id="4" name="TextBox 3">
            <a:extLst>
              <a:ext uri="{FF2B5EF4-FFF2-40B4-BE49-F238E27FC236}">
                <a16:creationId xmlns:a16="http://schemas.microsoft.com/office/drawing/2014/main" id="{BFE56A61-941C-9EF0-10F0-AC62EFA1BA1B}"/>
              </a:ext>
            </a:extLst>
          </p:cNvPr>
          <p:cNvSpPr txBox="1"/>
          <p:nvPr/>
        </p:nvSpPr>
        <p:spPr>
          <a:xfrm>
            <a:off x="7990114" y="4942114"/>
            <a:ext cx="4049486" cy="1477328"/>
          </a:xfrm>
          <a:prstGeom prst="rect">
            <a:avLst/>
          </a:prstGeom>
          <a:noFill/>
        </p:spPr>
        <p:txBody>
          <a:bodyPr wrap="square" rtlCol="0">
            <a:spAutoFit/>
          </a:bodyPr>
          <a:lstStyle/>
          <a:p>
            <a:r>
              <a:rPr lang="en-US" dirty="0"/>
              <a:t>Bhavana B,</a:t>
            </a:r>
            <a:br>
              <a:rPr lang="en-US" dirty="0"/>
            </a:br>
            <a:r>
              <a:rPr lang="en-US" dirty="0"/>
              <a:t>R V College Of Engineering</a:t>
            </a:r>
          </a:p>
          <a:p>
            <a:br>
              <a:rPr lang="en-US" dirty="0"/>
            </a:br>
            <a:r>
              <a:rPr lang="en-IN" b="1" dirty="0"/>
              <a:t>Ephemeral Cloud &amp; Kubernetes Resource Risk Detection</a:t>
            </a:r>
            <a:endParaRPr lang="en-IN" dirty="0"/>
          </a:p>
        </p:txBody>
      </p:sp>
    </p:spTree>
    <p:extLst>
      <p:ext uri="{BB962C8B-B14F-4D97-AF65-F5344CB8AC3E}">
        <p14:creationId xmlns:p14="http://schemas.microsoft.com/office/powerpoint/2010/main" val="1700005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AC7D3-472D-2815-EA76-7CAB57DCF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BB2C4-8F5B-B451-8FFD-C26C922B9B4B}"/>
              </a:ext>
            </a:extLst>
          </p:cNvPr>
          <p:cNvSpPr>
            <a:spLocks noGrp="1"/>
          </p:cNvSpPr>
          <p:nvPr>
            <p:ph type="title"/>
          </p:nvPr>
        </p:nvSpPr>
        <p:spPr/>
        <p:txBody>
          <a:bodyPr/>
          <a:lstStyle/>
          <a:p>
            <a:pPr algn="l"/>
            <a:r>
              <a:rPr lang="en-IN" dirty="0"/>
              <a:t>The Problem</a:t>
            </a:r>
          </a:p>
        </p:txBody>
      </p:sp>
      <p:sp>
        <p:nvSpPr>
          <p:cNvPr id="3" name="Content Placeholder 2">
            <a:extLst>
              <a:ext uri="{FF2B5EF4-FFF2-40B4-BE49-F238E27FC236}">
                <a16:creationId xmlns:a16="http://schemas.microsoft.com/office/drawing/2014/main" id="{E1C69567-1EAB-B8CB-4E8B-D97B466C9ED5}"/>
              </a:ext>
            </a:extLst>
          </p:cNvPr>
          <p:cNvSpPr>
            <a:spLocks noGrp="1"/>
          </p:cNvSpPr>
          <p:nvPr>
            <p:ph idx="1"/>
          </p:nvPr>
        </p:nvSpPr>
        <p:spPr/>
        <p:txBody>
          <a:bodyPr>
            <a:normAutofit/>
          </a:bodyPr>
          <a:lstStyle/>
          <a:p>
            <a:pPr>
              <a:buFont typeface="Wingdings" panose="05000000000000000000" pitchFamily="2" charset="2"/>
              <a:buChar char="Ø"/>
            </a:pPr>
            <a:r>
              <a:rPr lang="en-IN" sz="2200" dirty="0">
                <a:effectLst/>
              </a:rPr>
              <a:t>A cloud-native enterprise runs 500+ Kubernetes workloads and provisions hundreds of ephemeral cloud resources daily — CI/CD job pods, spot instances, temporary IAM sessions and containers. These assets exist for minutes to hours, then disappear. Traditional security controls (quarterly scans, daily inventory syncs) were never designed for this tempo.</a:t>
            </a:r>
          </a:p>
          <a:p>
            <a:pPr marL="36900" indent="0">
              <a:buNone/>
            </a:pPr>
            <a:endParaRPr lang="en-IN" sz="2200" dirty="0">
              <a:effectLst/>
            </a:endParaRPr>
          </a:p>
          <a:p>
            <a:pPr>
              <a:buFont typeface="Wingdings" panose="05000000000000000000" pitchFamily="2" charset="2"/>
              <a:buChar char="Ø"/>
            </a:pPr>
            <a:r>
              <a:rPr lang="en-IN" sz="2200" dirty="0">
                <a:effectLst/>
              </a:rPr>
              <a:t>Ephemeral cloud resources exist for minutes—but attackers need even less time</a:t>
            </a:r>
            <a:endParaRPr lang="en-IN" sz="2200" dirty="0"/>
          </a:p>
        </p:txBody>
      </p:sp>
    </p:spTree>
    <p:extLst>
      <p:ext uri="{BB962C8B-B14F-4D97-AF65-F5344CB8AC3E}">
        <p14:creationId xmlns:p14="http://schemas.microsoft.com/office/powerpoint/2010/main" val="3197104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EB6E-C167-1F09-6ADA-32C7DDDFB4F9}"/>
              </a:ext>
            </a:extLst>
          </p:cNvPr>
          <p:cNvSpPr>
            <a:spLocks noGrp="1"/>
          </p:cNvSpPr>
          <p:nvPr>
            <p:ph type="title"/>
          </p:nvPr>
        </p:nvSpPr>
        <p:spPr/>
        <p:txBody>
          <a:bodyPr/>
          <a:lstStyle/>
          <a:p>
            <a:pPr algn="l"/>
            <a:r>
              <a:rPr lang="en-IN" dirty="0"/>
              <a:t>The Problem</a:t>
            </a:r>
          </a:p>
        </p:txBody>
      </p:sp>
      <p:sp>
        <p:nvSpPr>
          <p:cNvPr id="3" name="Content Placeholder 2">
            <a:extLst>
              <a:ext uri="{FF2B5EF4-FFF2-40B4-BE49-F238E27FC236}">
                <a16:creationId xmlns:a16="http://schemas.microsoft.com/office/drawing/2014/main" id="{25273691-0855-2BF7-2047-9C67D8C2FC0A}"/>
              </a:ext>
            </a:extLst>
          </p:cNvPr>
          <p:cNvSpPr>
            <a:spLocks noGrp="1"/>
          </p:cNvSpPr>
          <p:nvPr>
            <p:ph idx="1"/>
          </p:nvPr>
        </p:nvSpPr>
        <p:spPr/>
        <p:txBody>
          <a:bodyPr>
            <a:normAutofit/>
          </a:bodyPr>
          <a:lstStyle/>
          <a:p>
            <a:pPr>
              <a:buFont typeface="Wingdings" panose="05000000000000000000" pitchFamily="2" charset="2"/>
              <a:buChar char="Ø"/>
            </a:pPr>
            <a:r>
              <a:rPr lang="en-IN" sz="2400" dirty="0"/>
              <a:t>Cloud environments spin up and tear down in seconds — traditional security tools miss threats in ephemeral infrastructure </a:t>
            </a:r>
          </a:p>
          <a:p>
            <a:pPr>
              <a:buFont typeface="Wingdings" panose="05000000000000000000" pitchFamily="2" charset="2"/>
              <a:buChar char="Ø"/>
            </a:pPr>
            <a:r>
              <a:rPr lang="en-IN" sz="2400" dirty="0"/>
              <a:t>Security teams are drowning in raw logs across Cloud, IAM, and Kubernetes — no unified view</a:t>
            </a:r>
          </a:p>
          <a:p>
            <a:pPr>
              <a:buFont typeface="Wingdings" panose="05000000000000000000" pitchFamily="2" charset="2"/>
              <a:buChar char="Ø"/>
            </a:pPr>
            <a:r>
              <a:rPr lang="en-IN" sz="2400" dirty="0"/>
              <a:t> Most tools alert on individual events, not attack chains — attackers exploit. </a:t>
            </a:r>
          </a:p>
          <a:p>
            <a:pPr>
              <a:buFont typeface="Wingdings" panose="05000000000000000000" pitchFamily="2" charset="2"/>
              <a:buChar char="Ø"/>
            </a:pPr>
            <a:r>
              <a:rPr lang="en-IN" sz="2400" dirty="0"/>
              <a:t>Mean time to detect (MTTD) for cloud attacks is still measured in days, not minutes</a:t>
            </a:r>
          </a:p>
        </p:txBody>
      </p:sp>
    </p:spTree>
    <p:extLst>
      <p:ext uri="{BB962C8B-B14F-4D97-AF65-F5344CB8AC3E}">
        <p14:creationId xmlns:p14="http://schemas.microsoft.com/office/powerpoint/2010/main" val="197372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8A122-DBDC-AD6F-8BFA-27048151B473}"/>
              </a:ext>
            </a:extLst>
          </p:cNvPr>
          <p:cNvSpPr>
            <a:spLocks noGrp="1"/>
          </p:cNvSpPr>
          <p:nvPr>
            <p:ph type="title"/>
          </p:nvPr>
        </p:nvSpPr>
        <p:spPr/>
        <p:txBody>
          <a:bodyPr/>
          <a:lstStyle/>
          <a:p>
            <a:r>
              <a:rPr lang="en-IN" dirty="0"/>
              <a:t>What is </a:t>
            </a:r>
            <a:r>
              <a:rPr lang="en-IN" dirty="0" err="1"/>
              <a:t>EphemeralGuard</a:t>
            </a:r>
            <a:r>
              <a:rPr lang="en-IN" dirty="0"/>
              <a:t> AI?</a:t>
            </a:r>
          </a:p>
        </p:txBody>
      </p:sp>
      <p:sp>
        <p:nvSpPr>
          <p:cNvPr id="3" name="Content Placeholder 2">
            <a:extLst>
              <a:ext uri="{FF2B5EF4-FFF2-40B4-BE49-F238E27FC236}">
                <a16:creationId xmlns:a16="http://schemas.microsoft.com/office/drawing/2014/main" id="{484A5102-5504-B1DF-5568-0FFC437CEDC9}"/>
              </a:ext>
            </a:extLst>
          </p:cNvPr>
          <p:cNvSpPr>
            <a:spLocks noGrp="1"/>
          </p:cNvSpPr>
          <p:nvPr>
            <p:ph idx="1"/>
          </p:nvPr>
        </p:nvSpPr>
        <p:spPr/>
        <p:txBody>
          <a:bodyPr>
            <a:normAutofit/>
          </a:bodyPr>
          <a:lstStyle/>
          <a:p>
            <a:r>
              <a:rPr lang="en-IN" sz="2400" dirty="0"/>
              <a:t>An AI-powered security detection and investigation platform purpose-built for ephemeral cloud &amp; Kubernetes environments </a:t>
            </a:r>
          </a:p>
          <a:p>
            <a:r>
              <a:rPr lang="en-IN" sz="2400" dirty="0"/>
              <a:t>Ingests logs from </a:t>
            </a:r>
            <a:r>
              <a:rPr lang="en-IN" sz="2400" b="1" dirty="0"/>
              <a:t>3 sources simultaneously</a:t>
            </a:r>
            <a:r>
              <a:rPr lang="en-IN" sz="2400" dirty="0"/>
              <a:t>: Cloud logs, IAM activity, and Kubernetes events </a:t>
            </a:r>
          </a:p>
          <a:p>
            <a:r>
              <a:rPr lang="en-IN" sz="2400" dirty="0"/>
              <a:t>Converts 1,000+ raw events → 46 incidents with </a:t>
            </a:r>
            <a:r>
              <a:rPr lang="en-IN" sz="2400" b="1" dirty="0"/>
              <a:t>95.4% noise reduction</a:t>
            </a:r>
          </a:p>
          <a:p>
            <a:r>
              <a:rPr lang="en-IN" sz="2400" dirty="0"/>
              <a:t> Maps every incident to the </a:t>
            </a:r>
            <a:r>
              <a:rPr lang="en-IN" sz="2400" b="1" dirty="0"/>
              <a:t>MITRE ATT&amp;CK framework</a:t>
            </a:r>
            <a:r>
              <a:rPr lang="en-IN" sz="2400" dirty="0"/>
              <a:t> automatically</a:t>
            </a:r>
          </a:p>
        </p:txBody>
      </p:sp>
    </p:spTree>
    <p:extLst>
      <p:ext uri="{BB962C8B-B14F-4D97-AF65-F5344CB8AC3E}">
        <p14:creationId xmlns:p14="http://schemas.microsoft.com/office/powerpoint/2010/main" val="96735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75F706-1217-C2D5-38B0-73D6AC0596E6}"/>
              </a:ext>
            </a:extLst>
          </p:cNvPr>
          <p:cNvSpPr>
            <a:spLocks noGrp="1"/>
          </p:cNvSpPr>
          <p:nvPr>
            <p:ph type="title"/>
          </p:nvPr>
        </p:nvSpPr>
        <p:spPr>
          <a:xfrm>
            <a:off x="914356" y="326571"/>
            <a:ext cx="10353762" cy="970450"/>
          </a:xfrm>
        </p:spPr>
        <p:txBody>
          <a:bodyPr>
            <a:normAutofit/>
          </a:bodyPr>
          <a:lstStyle/>
          <a:p>
            <a:pPr algn="l"/>
            <a:r>
              <a:rPr lang="en-IN" sz="3000" dirty="0"/>
              <a:t>Key Features</a:t>
            </a:r>
          </a:p>
        </p:txBody>
      </p:sp>
      <p:graphicFrame>
        <p:nvGraphicFramePr>
          <p:cNvPr id="6" name="Content Placeholder 5">
            <a:extLst>
              <a:ext uri="{FF2B5EF4-FFF2-40B4-BE49-F238E27FC236}">
                <a16:creationId xmlns:a16="http://schemas.microsoft.com/office/drawing/2014/main" id="{A9BFBC36-2F49-9EF1-5EDA-291CEA5BCF48}"/>
              </a:ext>
            </a:extLst>
          </p:cNvPr>
          <p:cNvGraphicFramePr>
            <a:graphicFrameLocks noGrp="1"/>
          </p:cNvGraphicFramePr>
          <p:nvPr>
            <p:ph idx="1"/>
            <p:extLst>
              <p:ext uri="{D42A27DB-BD31-4B8C-83A1-F6EECF244321}">
                <p14:modId xmlns:p14="http://schemas.microsoft.com/office/powerpoint/2010/main" val="3382933143"/>
              </p:ext>
            </p:extLst>
          </p:nvPr>
        </p:nvGraphicFramePr>
        <p:xfrm>
          <a:off x="1585119" y="1240971"/>
          <a:ext cx="9012236" cy="5496916"/>
        </p:xfrm>
        <a:graphic>
          <a:graphicData uri="http://schemas.openxmlformats.org/drawingml/2006/table">
            <a:tbl>
              <a:tblPr/>
              <a:tblGrid>
                <a:gridCol w="4506118">
                  <a:extLst>
                    <a:ext uri="{9D8B030D-6E8A-4147-A177-3AD203B41FA5}">
                      <a16:colId xmlns:a16="http://schemas.microsoft.com/office/drawing/2014/main" val="12546799"/>
                    </a:ext>
                  </a:extLst>
                </a:gridCol>
                <a:gridCol w="4506118">
                  <a:extLst>
                    <a:ext uri="{9D8B030D-6E8A-4147-A177-3AD203B41FA5}">
                      <a16:colId xmlns:a16="http://schemas.microsoft.com/office/drawing/2014/main" val="890858885"/>
                    </a:ext>
                  </a:extLst>
                </a:gridCol>
              </a:tblGrid>
              <a:tr h="635308">
                <a:tc>
                  <a:txBody>
                    <a:bodyPr/>
                    <a:lstStyle/>
                    <a:p>
                      <a:pPr>
                        <a:buNone/>
                      </a:pPr>
                      <a:r>
                        <a:rPr lang="en-IN" sz="1600" dirty="0"/>
                        <a:t>Feature</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What it does</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4500419"/>
                  </a:ext>
                </a:extLst>
              </a:tr>
              <a:tr h="557150">
                <a:tc>
                  <a:txBody>
                    <a:bodyPr/>
                    <a:lstStyle/>
                    <a:p>
                      <a:pPr>
                        <a:buNone/>
                      </a:pPr>
                      <a:r>
                        <a:rPr lang="en-IN" sz="1600"/>
                        <a:t>🔍 Anomaly Detection</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Isolation Forest ML model trained on cloud, IAM &amp; K8s features</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36052"/>
                  </a:ext>
                </a:extLst>
              </a:tr>
              <a:tr h="557150">
                <a:tc>
                  <a:txBody>
                    <a:bodyPr/>
                    <a:lstStyle/>
                    <a:p>
                      <a:pPr>
                        <a:buNone/>
                      </a:pPr>
                      <a:r>
                        <a:rPr lang="en-IN" sz="1600"/>
                        <a:t>🔗 Incident Correlation</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Groups multi-event attack chains per user across time</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593525"/>
                  </a:ext>
                </a:extLst>
              </a:tr>
              <a:tr h="557150">
                <a:tc>
                  <a:txBody>
                    <a:bodyPr/>
                    <a:lstStyle/>
                    <a:p>
                      <a:pPr>
                        <a:buNone/>
                      </a:pPr>
                      <a:r>
                        <a:rPr lang="en-IN" sz="1600"/>
                        <a:t>⚖️ Risk Scoring</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Weighted scoring (70–95) with Critical / High / Medium severity</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5727290"/>
                  </a:ext>
                </a:extLst>
              </a:tr>
              <a:tr h="318372">
                <a:tc>
                  <a:txBody>
                    <a:bodyPr/>
                    <a:lstStyle/>
                    <a:p>
                      <a:pPr>
                        <a:buNone/>
                      </a:pPr>
                      <a:r>
                        <a:rPr lang="en-IN" sz="1600"/>
                        <a:t>🗺️ MITRE ATT&amp;CK Mapping</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Auto-tags T1496, T1068, T1078 techniques</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7969360"/>
                  </a:ext>
                </a:extLst>
              </a:tr>
              <a:tr h="318372">
                <a:tc>
                  <a:txBody>
                    <a:bodyPr/>
                    <a:lstStyle/>
                    <a:p>
                      <a:pPr>
                        <a:buNone/>
                      </a:pPr>
                      <a:r>
                        <a:rPr lang="en-IN" sz="1600"/>
                        <a:t>🎬 Attack Replay</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Step-by-step timeline reconstruction of any incident</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690918"/>
                  </a:ext>
                </a:extLst>
              </a:tr>
              <a:tr h="318372">
                <a:tc>
                  <a:txBody>
                    <a:bodyPr/>
                    <a:lstStyle/>
                    <a:p>
                      <a:pPr>
                        <a:buNone/>
                      </a:pPr>
                      <a:r>
                        <a:rPr lang="en-IN" sz="1600"/>
                        <a:t>👤 Identity Explorer</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Per-user risk profile with full IAM activity history</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6902484"/>
                  </a:ext>
                </a:extLst>
              </a:tr>
              <a:tr h="557150">
                <a:tc>
                  <a:txBody>
                    <a:bodyPr/>
                    <a:lstStyle/>
                    <a:p>
                      <a:pPr>
                        <a:buNone/>
                      </a:pPr>
                      <a:r>
                        <a:rPr lang="en-IN" sz="1600"/>
                        <a:t>📦 Asset Inventory</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All 361 resources tracked with suspicious activity flagging</a:t>
                      </a:r>
                      <a:endParaRPr lang="en-IN" sz="1600" dirty="0"/>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9532644"/>
                  </a:ext>
                </a:extLst>
              </a:tr>
              <a:tr h="557150">
                <a:tc>
                  <a:txBody>
                    <a:bodyPr/>
                    <a:lstStyle/>
                    <a:p>
                      <a:pPr>
                        <a:buNone/>
                      </a:pPr>
                      <a:r>
                        <a:rPr lang="en-IN" sz="1600"/>
                        <a:t>📊 Security Analytics</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Detection performance, noise reduction, coverage metrics</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5713560"/>
                  </a:ext>
                </a:extLst>
              </a:tr>
              <a:tr h="55715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 </a:t>
                      </a:r>
                      <a:r>
                        <a:rPr lang="en-IN" sz="1800" b="0" i="0" kern="1200" dirty="0">
                          <a:solidFill>
                            <a:schemeClr val="tx1"/>
                          </a:solidFill>
                          <a:effectLst/>
                          <a:latin typeface="+mn-lt"/>
                          <a:ea typeface="+mn-ea"/>
                          <a:cs typeface="+mn-cs"/>
                        </a:rPr>
                        <a:t>Recommended Actions </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suggestions that tell the security team what should be done after detecting an anomaly or security incident</a:t>
                      </a:r>
                    </a:p>
                  </a:txBody>
                  <a:tcPr marL="79593" marR="79593" marT="39796" marB="397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431232"/>
                  </a:ext>
                </a:extLst>
              </a:tr>
            </a:tbl>
          </a:graphicData>
        </a:graphic>
      </p:graphicFrame>
    </p:spTree>
    <p:extLst>
      <p:ext uri="{BB962C8B-B14F-4D97-AF65-F5344CB8AC3E}">
        <p14:creationId xmlns:p14="http://schemas.microsoft.com/office/powerpoint/2010/main" val="4235080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C4F0292-2850-A539-A7DE-6D2D640852FB}"/>
              </a:ext>
            </a:extLst>
          </p:cNvPr>
          <p:cNvSpPr txBox="1"/>
          <p:nvPr/>
        </p:nvSpPr>
        <p:spPr>
          <a:xfrm>
            <a:off x="3048000" y="305190"/>
            <a:ext cx="6096000" cy="400110"/>
          </a:xfrm>
          <a:prstGeom prst="rect">
            <a:avLst/>
          </a:prstGeom>
          <a:noFill/>
        </p:spPr>
        <p:txBody>
          <a:bodyPr wrap="square">
            <a:spAutoFit/>
          </a:bodyPr>
          <a:lstStyle/>
          <a:p>
            <a:pPr algn="ctr"/>
            <a:r>
              <a:rPr lang="en-IN" sz="2000" dirty="0"/>
              <a:t>Architecture</a:t>
            </a:r>
          </a:p>
        </p:txBody>
      </p:sp>
      <p:pic>
        <p:nvPicPr>
          <p:cNvPr id="13" name="Picture 12">
            <a:extLst>
              <a:ext uri="{FF2B5EF4-FFF2-40B4-BE49-F238E27FC236}">
                <a16:creationId xmlns:a16="http://schemas.microsoft.com/office/drawing/2014/main" id="{350EFFC5-5664-9711-8ACE-86C006E2512A}"/>
              </a:ext>
            </a:extLst>
          </p:cNvPr>
          <p:cNvPicPr>
            <a:picLocks noChangeAspect="1"/>
          </p:cNvPicPr>
          <p:nvPr/>
        </p:nvPicPr>
        <p:blipFill>
          <a:blip r:embed="rId2"/>
          <a:stretch>
            <a:fillRect/>
          </a:stretch>
        </p:blipFill>
        <p:spPr>
          <a:xfrm>
            <a:off x="1219200" y="1049790"/>
            <a:ext cx="9753600" cy="5324475"/>
          </a:xfrm>
          <a:prstGeom prst="rect">
            <a:avLst/>
          </a:prstGeom>
        </p:spPr>
      </p:pic>
    </p:spTree>
    <p:extLst>
      <p:ext uri="{BB962C8B-B14F-4D97-AF65-F5344CB8AC3E}">
        <p14:creationId xmlns:p14="http://schemas.microsoft.com/office/powerpoint/2010/main" val="3726912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E41F-8B62-3C61-5ECF-DBDA0D084CAC}"/>
              </a:ext>
            </a:extLst>
          </p:cNvPr>
          <p:cNvSpPr>
            <a:spLocks noGrp="1"/>
          </p:cNvSpPr>
          <p:nvPr>
            <p:ph type="title"/>
          </p:nvPr>
        </p:nvSpPr>
        <p:spPr>
          <a:xfrm>
            <a:off x="913795" y="0"/>
            <a:ext cx="10353762" cy="970450"/>
          </a:xfrm>
        </p:spPr>
        <p:txBody>
          <a:bodyPr/>
          <a:lstStyle/>
          <a:p>
            <a:r>
              <a:rPr lang="en-IN" dirty="0"/>
              <a:t>What Makes My Project Different ?</a:t>
            </a:r>
          </a:p>
        </p:txBody>
      </p:sp>
      <p:sp>
        <p:nvSpPr>
          <p:cNvPr id="3" name="Content Placeholder 2">
            <a:extLst>
              <a:ext uri="{FF2B5EF4-FFF2-40B4-BE49-F238E27FC236}">
                <a16:creationId xmlns:a16="http://schemas.microsoft.com/office/drawing/2014/main" id="{3D77AFFC-D9D0-BB98-12E7-393F05D68563}"/>
              </a:ext>
            </a:extLst>
          </p:cNvPr>
          <p:cNvSpPr>
            <a:spLocks noGrp="1"/>
          </p:cNvSpPr>
          <p:nvPr>
            <p:ph idx="1"/>
          </p:nvPr>
        </p:nvSpPr>
        <p:spPr>
          <a:xfrm>
            <a:off x="913795" y="970450"/>
            <a:ext cx="10353762" cy="5560979"/>
          </a:xfrm>
        </p:spPr>
        <p:txBody>
          <a:bodyPr>
            <a:normAutofit lnSpcReduction="10000"/>
          </a:bodyPr>
          <a:lstStyle/>
          <a:p>
            <a:r>
              <a:rPr lang="en-IN" sz="2200" b="1" dirty="0"/>
              <a:t>95.4% Noise Reduction</a:t>
            </a:r>
            <a:r>
              <a:rPr lang="en-IN" sz="2200" dirty="0"/>
              <a:t> — 1,000 events distilled to 46 actionable incidents. Most SIEM tools flood you with alerts.</a:t>
            </a:r>
          </a:p>
          <a:p>
            <a:r>
              <a:rPr lang="en-IN" sz="2200" dirty="0"/>
              <a:t> </a:t>
            </a:r>
            <a:r>
              <a:rPr lang="en-IN" sz="2200" b="1" dirty="0"/>
              <a:t>Multi-source Correlation</a:t>
            </a:r>
            <a:r>
              <a:rPr lang="en-IN" sz="2200" dirty="0"/>
              <a:t> — Combines Cloud + IAM + Kubernetes into unified incidents, not siloed alerts</a:t>
            </a:r>
          </a:p>
          <a:p>
            <a:r>
              <a:rPr lang="en-IN" sz="2200" dirty="0"/>
              <a:t> </a:t>
            </a:r>
            <a:r>
              <a:rPr lang="en-IN" sz="2200" b="1" dirty="0"/>
              <a:t>Attack Chain Reconstruction</a:t>
            </a:r>
            <a:r>
              <a:rPr lang="en-IN" sz="2200" dirty="0"/>
              <a:t> — The Attack Replay page rebuilds the exact sequence of steps an attacker took </a:t>
            </a:r>
          </a:p>
          <a:p>
            <a:r>
              <a:rPr lang="en-IN" sz="2200" b="1" dirty="0"/>
              <a:t>Built for Ephemeral Infrastructure</a:t>
            </a:r>
            <a:r>
              <a:rPr lang="en-IN" sz="2200" dirty="0"/>
              <a:t> — Traditional tools lose context when VMs vanish; </a:t>
            </a:r>
            <a:r>
              <a:rPr lang="en-IN" sz="2200" dirty="0" err="1"/>
              <a:t>EphemeralGuard</a:t>
            </a:r>
            <a:r>
              <a:rPr lang="en-IN" sz="2200" dirty="0"/>
              <a:t> correlates by user identity, not resource lifetime</a:t>
            </a:r>
          </a:p>
          <a:p>
            <a:r>
              <a:rPr lang="en-IN" sz="2200" dirty="0"/>
              <a:t> </a:t>
            </a:r>
            <a:r>
              <a:rPr lang="en-IN" sz="2200" b="1" dirty="0"/>
              <a:t>Zero-config MITRE mapping</a:t>
            </a:r>
            <a:r>
              <a:rPr lang="en-IN" sz="2200" dirty="0"/>
              <a:t> — No rules to write; attack classification is automatic</a:t>
            </a:r>
          </a:p>
          <a:p>
            <a:r>
              <a:rPr lang="en-IN" sz="2200" dirty="0"/>
              <a:t> </a:t>
            </a:r>
            <a:r>
              <a:rPr lang="en-IN" sz="2200" b="1" dirty="0"/>
              <a:t>End-to-end pipeline</a:t>
            </a:r>
            <a:r>
              <a:rPr lang="en-IN" sz="2200" dirty="0"/>
              <a:t> — Feature engineering → ML detection → scoring → triage → visualization, all in one system</a:t>
            </a:r>
          </a:p>
          <a:p>
            <a:r>
              <a:rPr lang="en-IN" sz="2400" dirty="0"/>
              <a:t>Recommends Actions -- AI-generated suggestions that tell the security team what should be done after detecting an anomaly or security incident.</a:t>
            </a:r>
          </a:p>
        </p:txBody>
      </p:sp>
    </p:spTree>
    <p:extLst>
      <p:ext uri="{BB962C8B-B14F-4D97-AF65-F5344CB8AC3E}">
        <p14:creationId xmlns:p14="http://schemas.microsoft.com/office/powerpoint/2010/main" val="11444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0DAF-FCCC-A1C5-910D-A01EDF7B79E1}"/>
              </a:ext>
            </a:extLst>
          </p:cNvPr>
          <p:cNvSpPr>
            <a:spLocks noGrp="1"/>
          </p:cNvSpPr>
          <p:nvPr>
            <p:ph type="title"/>
          </p:nvPr>
        </p:nvSpPr>
        <p:spPr/>
        <p:txBody>
          <a:bodyPr/>
          <a:lstStyle/>
          <a:p>
            <a:pPr algn="l"/>
            <a:r>
              <a:rPr lang="en-IN" dirty="0"/>
              <a:t>Live Demo Stats(Demo Video)</a:t>
            </a:r>
          </a:p>
        </p:txBody>
      </p:sp>
      <p:sp>
        <p:nvSpPr>
          <p:cNvPr id="3" name="Content Placeholder 2">
            <a:extLst>
              <a:ext uri="{FF2B5EF4-FFF2-40B4-BE49-F238E27FC236}">
                <a16:creationId xmlns:a16="http://schemas.microsoft.com/office/drawing/2014/main" id="{69BE7C73-FF8C-920E-3FB8-115C3B6084D5}"/>
              </a:ext>
            </a:extLst>
          </p:cNvPr>
          <p:cNvSpPr>
            <a:spLocks noGrp="1"/>
          </p:cNvSpPr>
          <p:nvPr>
            <p:ph idx="1"/>
          </p:nvPr>
        </p:nvSpPr>
        <p:spPr>
          <a:xfrm>
            <a:off x="913795" y="1732449"/>
            <a:ext cx="10353762" cy="4341780"/>
          </a:xfrm>
        </p:spPr>
        <p:txBody>
          <a:bodyPr>
            <a:normAutofit/>
          </a:bodyPr>
          <a:lstStyle/>
          <a:p>
            <a:r>
              <a:rPr lang="en-IN" dirty="0"/>
              <a:t>Total Events Monitored: </a:t>
            </a:r>
            <a:r>
              <a:rPr lang="en-IN" b="1" dirty="0"/>
              <a:t>1,000</a:t>
            </a:r>
            <a:endParaRPr lang="en-IN" dirty="0"/>
          </a:p>
          <a:p>
            <a:r>
              <a:rPr lang="en-IN" dirty="0"/>
              <a:t>Unique Resources Tracked: </a:t>
            </a:r>
            <a:r>
              <a:rPr lang="en-IN" b="1" dirty="0"/>
              <a:t>361</a:t>
            </a:r>
            <a:endParaRPr lang="en-IN" dirty="0"/>
          </a:p>
          <a:p>
            <a:r>
              <a:rPr lang="en-IN" dirty="0"/>
              <a:t>Unique Users Profiled: </a:t>
            </a:r>
            <a:r>
              <a:rPr lang="en-IN" b="1" dirty="0"/>
              <a:t>50</a:t>
            </a:r>
            <a:endParaRPr lang="en-IN" dirty="0"/>
          </a:p>
          <a:p>
            <a:r>
              <a:rPr lang="en-IN" dirty="0"/>
              <a:t>Incidents Detected: </a:t>
            </a:r>
            <a:r>
              <a:rPr lang="en-IN" b="1" dirty="0"/>
              <a:t>46</a:t>
            </a:r>
            <a:endParaRPr lang="en-IN" dirty="0"/>
          </a:p>
          <a:p>
            <a:r>
              <a:rPr lang="en-IN" dirty="0"/>
              <a:t>Critical Incidents: </a:t>
            </a:r>
            <a:r>
              <a:rPr lang="en-IN" b="1" dirty="0"/>
              <a:t>34</a:t>
            </a:r>
            <a:endParaRPr lang="en-IN" dirty="0"/>
          </a:p>
          <a:p>
            <a:r>
              <a:rPr lang="en-IN" dirty="0"/>
              <a:t>Noise Reduction: </a:t>
            </a:r>
            <a:r>
              <a:rPr lang="en-IN" b="1" dirty="0"/>
              <a:t>95.4%</a:t>
            </a:r>
            <a:endParaRPr lang="en-IN" dirty="0"/>
          </a:p>
          <a:p>
            <a:r>
              <a:rPr lang="en-IN" dirty="0"/>
              <a:t>Attack Types Detected: Resource Hijacking, Privilege Escalation, Credential Abuse, Suspicious Activity</a:t>
            </a:r>
          </a:p>
          <a:p>
            <a:r>
              <a:rPr lang="en-IN" dirty="0"/>
              <a:t>MITRE Techniques Covered: T1496, T1068, T1078</a:t>
            </a:r>
          </a:p>
          <a:p>
            <a:r>
              <a:rPr lang="en-IN" dirty="0"/>
              <a:t>Recommends Actions To be Taken</a:t>
            </a:r>
          </a:p>
          <a:p>
            <a:endParaRPr lang="en-IN" dirty="0"/>
          </a:p>
        </p:txBody>
      </p:sp>
    </p:spTree>
    <p:extLst>
      <p:ext uri="{BB962C8B-B14F-4D97-AF65-F5344CB8AC3E}">
        <p14:creationId xmlns:p14="http://schemas.microsoft.com/office/powerpoint/2010/main" val="2715407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68129-74D7-2F2C-A2E6-4F03D343C911}"/>
              </a:ext>
            </a:extLst>
          </p:cNvPr>
          <p:cNvSpPr>
            <a:spLocks noGrp="1"/>
          </p:cNvSpPr>
          <p:nvPr>
            <p:ph type="title"/>
          </p:nvPr>
        </p:nvSpPr>
        <p:spPr/>
        <p:txBody>
          <a:bodyPr/>
          <a:lstStyle/>
          <a:p>
            <a:pPr algn="l"/>
            <a:r>
              <a:rPr lang="en-IN" dirty="0"/>
              <a:t>Tech Stack</a:t>
            </a:r>
          </a:p>
        </p:txBody>
      </p:sp>
      <p:sp>
        <p:nvSpPr>
          <p:cNvPr id="3" name="Content Placeholder 2">
            <a:extLst>
              <a:ext uri="{FF2B5EF4-FFF2-40B4-BE49-F238E27FC236}">
                <a16:creationId xmlns:a16="http://schemas.microsoft.com/office/drawing/2014/main" id="{3DC3BBE0-1937-0129-E8EE-B8978A0CCA8D}"/>
              </a:ext>
            </a:extLst>
          </p:cNvPr>
          <p:cNvSpPr>
            <a:spLocks noGrp="1"/>
          </p:cNvSpPr>
          <p:nvPr>
            <p:ph idx="1"/>
          </p:nvPr>
        </p:nvSpPr>
        <p:spPr/>
        <p:txBody>
          <a:bodyPr>
            <a:normAutofit/>
          </a:bodyPr>
          <a:lstStyle/>
          <a:p>
            <a:pPr marL="36900" indent="0">
              <a:buNone/>
            </a:pPr>
            <a:endParaRPr lang="en-IN" sz="2200" dirty="0"/>
          </a:p>
          <a:p>
            <a:r>
              <a:rPr lang="en-IN" sz="2200" b="1" dirty="0"/>
              <a:t>Language</a:t>
            </a:r>
            <a:r>
              <a:rPr lang="en-IN" sz="2200" dirty="0"/>
              <a:t>: Python</a:t>
            </a:r>
          </a:p>
          <a:p>
            <a:r>
              <a:rPr lang="en-IN" sz="2200" b="1" dirty="0"/>
              <a:t>Dashboard</a:t>
            </a:r>
            <a:r>
              <a:rPr lang="en-IN" sz="2200" dirty="0"/>
              <a:t>: </a:t>
            </a:r>
            <a:r>
              <a:rPr lang="en-IN" sz="2200" dirty="0" err="1"/>
              <a:t>Streamlit</a:t>
            </a:r>
            <a:r>
              <a:rPr lang="en-IN" sz="2200" dirty="0"/>
              <a:t> (multi-page)</a:t>
            </a:r>
          </a:p>
          <a:p>
            <a:r>
              <a:rPr lang="en-IN" sz="2200" b="1" dirty="0"/>
              <a:t>ML Model</a:t>
            </a:r>
            <a:r>
              <a:rPr lang="en-IN" sz="2200" dirty="0"/>
              <a:t>: Scikit-learn Isolation Forest</a:t>
            </a:r>
          </a:p>
          <a:p>
            <a:r>
              <a:rPr lang="en-IN" sz="2200" b="1" dirty="0"/>
              <a:t>Data</a:t>
            </a:r>
            <a:r>
              <a:rPr lang="en-IN" sz="2200" dirty="0"/>
              <a:t>: Pandas (Cloud, IAM, K8s CSV logs)</a:t>
            </a:r>
          </a:p>
          <a:p>
            <a:r>
              <a:rPr lang="en-IN" sz="2200" b="1" dirty="0"/>
              <a:t>Visualization</a:t>
            </a:r>
            <a:r>
              <a:rPr lang="en-IN" sz="2200" dirty="0"/>
              <a:t>: Plotly / </a:t>
            </a:r>
            <a:r>
              <a:rPr lang="en-IN" sz="2200" dirty="0" err="1"/>
              <a:t>Streamlit</a:t>
            </a:r>
            <a:r>
              <a:rPr lang="en-IN" sz="2200" dirty="0"/>
              <a:t> charts</a:t>
            </a:r>
          </a:p>
          <a:p>
            <a:r>
              <a:rPr lang="en-IN" sz="2200" b="1" dirty="0"/>
              <a:t>Detection Pipeline</a:t>
            </a:r>
            <a:r>
              <a:rPr lang="en-IN" sz="2200" dirty="0"/>
              <a:t>: Custom feature engineering + rule-based risk scoring</a:t>
            </a:r>
          </a:p>
          <a:p>
            <a:r>
              <a:rPr lang="en-IN" sz="2200" b="1" dirty="0"/>
              <a:t>Triage Engine</a:t>
            </a:r>
            <a:r>
              <a:rPr lang="en-IN" sz="2200" dirty="0"/>
              <a:t>: Rule-based LLM-style narrative generation</a:t>
            </a:r>
          </a:p>
          <a:p>
            <a:endParaRPr lang="en-IN" sz="2200" dirty="0"/>
          </a:p>
        </p:txBody>
      </p:sp>
    </p:spTree>
    <p:extLst>
      <p:ext uri="{BB962C8B-B14F-4D97-AF65-F5344CB8AC3E}">
        <p14:creationId xmlns:p14="http://schemas.microsoft.com/office/powerpoint/2010/main" val="1059426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863D9-28FF-649B-8F23-1BD3A0F57B93}"/>
              </a:ext>
            </a:extLst>
          </p:cNvPr>
          <p:cNvSpPr>
            <a:spLocks noGrp="1"/>
          </p:cNvSpPr>
          <p:nvPr>
            <p:ph type="title"/>
          </p:nvPr>
        </p:nvSpPr>
        <p:spPr>
          <a:xfrm>
            <a:off x="913795" y="315686"/>
            <a:ext cx="10755691" cy="970450"/>
          </a:xfrm>
        </p:spPr>
        <p:txBody>
          <a:bodyPr>
            <a:normAutofit/>
          </a:bodyPr>
          <a:lstStyle/>
          <a:p>
            <a:pPr algn="l"/>
            <a:r>
              <a:rPr lang="en-IN" dirty="0"/>
              <a:t>Future Roadmap</a:t>
            </a:r>
          </a:p>
        </p:txBody>
      </p:sp>
      <p:sp>
        <p:nvSpPr>
          <p:cNvPr id="3" name="Content Placeholder 2">
            <a:extLst>
              <a:ext uri="{FF2B5EF4-FFF2-40B4-BE49-F238E27FC236}">
                <a16:creationId xmlns:a16="http://schemas.microsoft.com/office/drawing/2014/main" id="{5921DF02-B8A7-983E-05CF-3762595D2DEE}"/>
              </a:ext>
            </a:extLst>
          </p:cNvPr>
          <p:cNvSpPr>
            <a:spLocks noGrp="1"/>
          </p:cNvSpPr>
          <p:nvPr>
            <p:ph idx="1"/>
          </p:nvPr>
        </p:nvSpPr>
        <p:spPr>
          <a:xfrm>
            <a:off x="913795" y="1219200"/>
            <a:ext cx="10353762" cy="5638800"/>
          </a:xfrm>
        </p:spPr>
        <p:txBody>
          <a:bodyPr>
            <a:normAutofit/>
          </a:bodyPr>
          <a:lstStyle/>
          <a:p>
            <a:pPr marL="36900" indent="0">
              <a:buNone/>
            </a:pPr>
            <a:r>
              <a:rPr lang="en-IN" sz="2300" dirty="0"/>
              <a:t>Feature 1 — Automated Dependency Cleanup</a:t>
            </a:r>
          </a:p>
          <a:p>
            <a:r>
              <a:rPr lang="en-IN" dirty="0"/>
              <a:t>One of the biggest unsolved problems in ephemeral security is what we call </a:t>
            </a:r>
            <a:r>
              <a:rPr lang="en-IN" b="1" dirty="0"/>
              <a:t>ghost permissions</a:t>
            </a:r>
            <a:r>
              <a:rPr lang="en-IN" dirty="0"/>
              <a:t> — when a pod dies, its IAM roles, secrets, and service accounts stay alive. That's a dangling attack surface.</a:t>
            </a:r>
          </a:p>
          <a:p>
            <a:r>
              <a:rPr lang="en-IN" dirty="0"/>
              <a:t>On pod termination, </a:t>
            </a:r>
            <a:r>
              <a:rPr lang="en-IN" dirty="0" err="1"/>
              <a:t>EphemeralGuard</a:t>
            </a:r>
            <a:r>
              <a:rPr lang="en-IN" dirty="0"/>
              <a:t> automatically discovers and revokes all associated: </a:t>
            </a:r>
          </a:p>
          <a:p>
            <a:pPr lvl="1"/>
            <a:r>
              <a:rPr lang="en-IN" dirty="0"/>
              <a:t>IAM roles and bindings</a:t>
            </a:r>
          </a:p>
          <a:p>
            <a:pPr lvl="1"/>
            <a:r>
              <a:rPr lang="en-IN" dirty="0"/>
              <a:t>Service accounts</a:t>
            </a:r>
          </a:p>
          <a:p>
            <a:pPr lvl="1"/>
            <a:r>
              <a:rPr lang="en-IN" dirty="0"/>
              <a:t>Secrets and </a:t>
            </a:r>
            <a:r>
              <a:rPr lang="en-IN" dirty="0" err="1"/>
              <a:t>ConfigMaps</a:t>
            </a:r>
            <a:endParaRPr lang="en-IN" dirty="0"/>
          </a:p>
          <a:p>
            <a:pPr lvl="1"/>
            <a:r>
              <a:rPr lang="en-IN" dirty="0"/>
              <a:t>Network policies scoped to that pod</a:t>
            </a:r>
          </a:p>
          <a:p>
            <a:r>
              <a:rPr lang="en-IN" dirty="0"/>
              <a:t>We're building </a:t>
            </a:r>
            <a:r>
              <a:rPr lang="en-IN" b="1" dirty="0"/>
              <a:t>Automated Dependency Cleanup</a:t>
            </a:r>
            <a:r>
              <a:rPr lang="en-IN" dirty="0"/>
              <a:t> — the moment a pod terminates, </a:t>
            </a:r>
            <a:r>
              <a:rPr lang="en-IN" dirty="0" err="1"/>
              <a:t>EphemeralGuard</a:t>
            </a:r>
            <a:r>
              <a:rPr lang="en-IN" dirty="0"/>
              <a:t> maps its full dependency graph and revokes every permission it held. No orphaned roles. No lingering secrets.</a:t>
            </a:r>
          </a:p>
          <a:p>
            <a:pPr marL="36900" indent="0">
              <a:buNone/>
            </a:pPr>
            <a:endParaRPr lang="en-IN" dirty="0"/>
          </a:p>
        </p:txBody>
      </p:sp>
    </p:spTree>
    <p:extLst>
      <p:ext uri="{BB962C8B-B14F-4D97-AF65-F5344CB8AC3E}">
        <p14:creationId xmlns:p14="http://schemas.microsoft.com/office/powerpoint/2010/main" val="568681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A9272-BBF8-56F0-E8AB-43DF57DA7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5A4C2-0292-FF6E-FA3F-6941C81B3661}"/>
              </a:ext>
            </a:extLst>
          </p:cNvPr>
          <p:cNvSpPr>
            <a:spLocks noGrp="1"/>
          </p:cNvSpPr>
          <p:nvPr>
            <p:ph type="title"/>
          </p:nvPr>
        </p:nvSpPr>
        <p:spPr>
          <a:xfrm>
            <a:off x="913795" y="315686"/>
            <a:ext cx="10755691" cy="970450"/>
          </a:xfrm>
        </p:spPr>
        <p:txBody>
          <a:bodyPr>
            <a:normAutofit/>
          </a:bodyPr>
          <a:lstStyle/>
          <a:p>
            <a:pPr algn="l"/>
            <a:r>
              <a:rPr lang="en-IN" dirty="0"/>
              <a:t>Future Roadmap</a:t>
            </a:r>
          </a:p>
        </p:txBody>
      </p:sp>
      <p:sp>
        <p:nvSpPr>
          <p:cNvPr id="3" name="Content Placeholder 2">
            <a:extLst>
              <a:ext uri="{FF2B5EF4-FFF2-40B4-BE49-F238E27FC236}">
                <a16:creationId xmlns:a16="http://schemas.microsoft.com/office/drawing/2014/main" id="{AF4E646F-1419-22A1-F717-6027F08BD7E0}"/>
              </a:ext>
            </a:extLst>
          </p:cNvPr>
          <p:cNvSpPr>
            <a:spLocks noGrp="1"/>
          </p:cNvSpPr>
          <p:nvPr>
            <p:ph idx="1"/>
          </p:nvPr>
        </p:nvSpPr>
        <p:spPr>
          <a:xfrm>
            <a:off x="913795" y="1219200"/>
            <a:ext cx="10353762" cy="5638800"/>
          </a:xfrm>
        </p:spPr>
        <p:txBody>
          <a:bodyPr>
            <a:normAutofit/>
          </a:bodyPr>
          <a:lstStyle/>
          <a:p>
            <a:pPr marL="36900" indent="0">
              <a:buNone/>
            </a:pPr>
            <a:r>
              <a:rPr lang="en-IN" sz="2200" b="1" dirty="0"/>
              <a:t>Feature 2 — Pod Lifecycle Ledger</a:t>
            </a:r>
            <a:endParaRPr lang="en-IN" sz="2200" dirty="0"/>
          </a:p>
          <a:p>
            <a:r>
              <a:rPr lang="en-IN" dirty="0"/>
              <a:t>Every pod gets a full cradle-to-grave record: </a:t>
            </a:r>
          </a:p>
          <a:p>
            <a:pPr lvl="1"/>
            <a:r>
              <a:rPr lang="en-IN" dirty="0"/>
              <a:t>Spin-up time, namespace, image, resource requests</a:t>
            </a:r>
          </a:p>
          <a:p>
            <a:pPr lvl="1"/>
            <a:r>
              <a:rPr lang="en-IN" dirty="0"/>
              <a:t>All events triggered during its lifetime (API calls, network connections, secrets accessed)</a:t>
            </a:r>
          </a:p>
          <a:p>
            <a:pPr lvl="1"/>
            <a:r>
              <a:rPr lang="en-IN" dirty="0"/>
              <a:t>Who created it, what service account it ran under</a:t>
            </a:r>
          </a:p>
          <a:p>
            <a:pPr lvl="1"/>
            <a:r>
              <a:rPr lang="en-IN" dirty="0"/>
              <a:t>Termination reason + cleanup actions taken</a:t>
            </a:r>
          </a:p>
          <a:p>
            <a:pPr marL="450000" lvl="1" indent="0">
              <a:buNone/>
            </a:pPr>
            <a:endParaRPr lang="en-IN" dirty="0"/>
          </a:p>
          <a:p>
            <a:pPr marL="450000" lvl="1" indent="0">
              <a:buNone/>
            </a:pPr>
            <a:r>
              <a:rPr lang="en-IN" dirty="0"/>
              <a:t>every pod will have a </a:t>
            </a:r>
            <a:r>
              <a:rPr lang="en-IN" b="1" dirty="0"/>
              <a:t>Lifecycle Ledger</a:t>
            </a:r>
            <a:r>
              <a:rPr lang="en-IN" dirty="0"/>
              <a:t> — a full cradle-to-grave record of everything it did, from spin-up to deletion. Every API call, every secret it touched, every network connection — all stored as an immutable audit trail that links directly back to our incident records.</a:t>
            </a:r>
          </a:p>
          <a:p>
            <a:pPr marL="36900" indent="0">
              <a:buNone/>
            </a:pPr>
            <a:endParaRPr lang="en-IN" dirty="0"/>
          </a:p>
        </p:txBody>
      </p:sp>
    </p:spTree>
    <p:extLst>
      <p:ext uri="{BB962C8B-B14F-4D97-AF65-F5344CB8AC3E}">
        <p14:creationId xmlns:p14="http://schemas.microsoft.com/office/powerpoint/2010/main" val="108009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663056-D699-9C3A-08B8-2B30872F992C}"/>
              </a:ext>
            </a:extLst>
          </p:cNvPr>
          <p:cNvSpPr>
            <a:spLocks noGrp="1"/>
          </p:cNvSpPr>
          <p:nvPr>
            <p:ph type="title"/>
          </p:nvPr>
        </p:nvSpPr>
        <p:spPr>
          <a:xfrm>
            <a:off x="919119" y="1034143"/>
            <a:ext cx="10353762" cy="970450"/>
          </a:xfrm>
        </p:spPr>
        <p:txBody>
          <a:bodyPr>
            <a:normAutofit fontScale="90000"/>
          </a:bodyPr>
          <a:lstStyle/>
          <a:p>
            <a:r>
              <a:rPr lang="en-IN" dirty="0"/>
              <a:t>From 1,000 events to 46 incidents. From confusion to clarity. In seconds.</a:t>
            </a:r>
          </a:p>
        </p:txBody>
      </p:sp>
      <p:sp>
        <p:nvSpPr>
          <p:cNvPr id="5" name="TextBox 4">
            <a:extLst>
              <a:ext uri="{FF2B5EF4-FFF2-40B4-BE49-F238E27FC236}">
                <a16:creationId xmlns:a16="http://schemas.microsoft.com/office/drawing/2014/main" id="{3FAADED4-434B-4081-32FD-F871D27C10BE}"/>
              </a:ext>
            </a:extLst>
          </p:cNvPr>
          <p:cNvSpPr txBox="1"/>
          <p:nvPr/>
        </p:nvSpPr>
        <p:spPr>
          <a:xfrm>
            <a:off x="2950029" y="2971800"/>
            <a:ext cx="6694714" cy="646331"/>
          </a:xfrm>
          <a:prstGeom prst="rect">
            <a:avLst/>
          </a:prstGeom>
          <a:noFill/>
        </p:spPr>
        <p:txBody>
          <a:bodyPr wrap="square" rtlCol="0">
            <a:spAutoFit/>
          </a:bodyPr>
          <a:lstStyle/>
          <a:p>
            <a:r>
              <a:rPr lang="en-IN" dirty="0"/>
              <a:t>GitHub : </a:t>
            </a:r>
            <a:r>
              <a:rPr lang="en-IN" dirty="0">
                <a:hlinkClick r:id="rId2"/>
              </a:rPr>
              <a:t>https://github.com/Bhavanab2004/EphemeralGuardAi</a:t>
            </a:r>
            <a:endParaRPr lang="en-IN" dirty="0"/>
          </a:p>
          <a:p>
            <a:endParaRPr lang="en-IN" dirty="0"/>
          </a:p>
        </p:txBody>
      </p:sp>
    </p:spTree>
    <p:extLst>
      <p:ext uri="{BB962C8B-B14F-4D97-AF65-F5344CB8AC3E}">
        <p14:creationId xmlns:p14="http://schemas.microsoft.com/office/powerpoint/2010/main" val="2526009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40</TotalTime>
  <Words>866</Words>
  <Application>Microsoft Office PowerPoint</Application>
  <PresentationFormat>Widescreen</PresentationFormat>
  <Paragraphs>91</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Calisto MT</vt:lpstr>
      <vt:lpstr>Wingdings</vt:lpstr>
      <vt:lpstr>Wingdings 2</vt:lpstr>
      <vt:lpstr>Slate</vt:lpstr>
      <vt:lpstr>Ephemeral Guard AI</vt:lpstr>
      <vt:lpstr>The Problem</vt:lpstr>
      <vt:lpstr>The Problem</vt:lpstr>
      <vt:lpstr>What is EphemeralGuard AI?</vt:lpstr>
      <vt:lpstr>Key Features</vt:lpstr>
      <vt:lpstr>PowerPoint Presentation</vt:lpstr>
      <vt:lpstr>What Makes My Project Different ?</vt:lpstr>
      <vt:lpstr>Live Demo Stats(Demo Video)</vt:lpstr>
      <vt:lpstr>Tech Stack</vt:lpstr>
      <vt:lpstr>Future Roadmap</vt:lpstr>
      <vt:lpstr>Future Roadmap</vt:lpstr>
      <vt:lpstr>From 1,000 events to 46 incidents. From confusion to clarity. In seconds.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bhavana b</dc:creator>
  <cp:lastModifiedBy>bhavana b</cp:lastModifiedBy>
  <cp:revision>1</cp:revision>
  <dcterms:created xsi:type="dcterms:W3CDTF">2026-06-21T20:16:33Z</dcterms:created>
  <dcterms:modified xsi:type="dcterms:W3CDTF">2026-06-21T21:40:12Z</dcterms:modified>
</cp:coreProperties>
</file>